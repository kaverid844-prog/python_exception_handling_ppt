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63" r:id="rId5"/>
    <p:sldId id="262" r:id="rId6"/>
    <p:sldId id="280" r:id="rId7"/>
    <p:sldId id="281" r:id="rId8"/>
    <p:sldId id="265" r:id="rId9"/>
    <p:sldId id="261" r:id="rId10"/>
    <p:sldId id="282" r:id="rId11"/>
    <p:sldId id="275" r:id="rId12"/>
    <p:sldId id="277" r:id="rId13"/>
    <p:sldId id="278" r:id="rId14"/>
    <p:sldId id="285" r:id="rId15"/>
    <p:sldId id="283" r:id="rId16"/>
    <p:sldId id="268" r:id="rId17"/>
    <p:sldId id="284" r:id="rId18"/>
    <p:sldId id="269" r:id="rId19"/>
    <p:sldId id="273" r:id="rId20"/>
    <p:sldId id="259" r:id="rId21"/>
  </p:sldIdLst>
  <p:sldSz cx="12192000" cy="6858000"/>
  <p:notesSz cx="6858000" cy="9144000"/>
  <p:embeddedFontLst>
    <p:embeddedFont>
      <p:font typeface="Lato Black" panose="020F0502020204030203" pitchFamily="34" charset="0"/>
      <p:bold r:id="rId23"/>
      <p:boldItalic r:id="rId24"/>
    </p:embeddedFont>
    <p:embeddedFont>
      <p:font typeface="Libre Baskerville" panose="02000000000000000000" pitchFamily="2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2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6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averid844-prog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linkedin.com/in/dumpali-kaveri-6915b72b9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98" y="180528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472904" y="3717986"/>
            <a:ext cx="7246189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36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Expection Handling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DD015E-B38F-403F-7D29-85D6D760D2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7062" y="2972100"/>
            <a:ext cx="3034146" cy="7458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0DCAE3E-AECC-A2B6-CEFC-24EA663B6F51}"/>
              </a:ext>
            </a:extLst>
          </p:cNvPr>
          <p:cNvSpPr txBox="1"/>
          <p:nvPr/>
        </p:nvSpPr>
        <p:spPr>
          <a:xfrm>
            <a:off x="4663440" y="3105105"/>
            <a:ext cx="29177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2204F6-6D85-C8A4-8254-DD0C65185A0D}"/>
              </a:ext>
            </a:extLst>
          </p:cNvPr>
          <p:cNvSpPr txBox="1"/>
          <p:nvPr/>
        </p:nvSpPr>
        <p:spPr>
          <a:xfrm>
            <a:off x="8480496" y="5444836"/>
            <a:ext cx="2477193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: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D. kaveri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no : 533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737811" y="1299172"/>
            <a:ext cx="10226675" cy="3570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endParaRPr lang="en-IN"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endParaRPr lang="en-IN"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42900"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name is kaveri. I have completed my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B.Tech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Computer Science and Engineering .</a:t>
            </a:r>
            <a:endParaRPr lang="en-IN" sz="200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endParaRPr lang="en-IN" sz="20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342900" lvl="0" indent="-342900"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am interested in Data Science because it combines my passion for problem-solving and working with data.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like finding patterns in data and using them to make better decisions.</a:t>
            </a:r>
          </a:p>
          <a:p>
            <a:pPr lvl="0">
              <a:buClr>
                <a:schemeClr val="dk1"/>
              </a:buClr>
              <a:buSzPts val="2400"/>
            </a:pPr>
            <a:endParaRPr lang="en-US" sz="2000" b="1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285750" lvl="0" indent="-285750"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: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https://github.com/kaverid844-prog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§"/>
            </a:pPr>
            <a:endParaRPr lang="en-US" sz="1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LinkedIn : </a:t>
            </a:r>
            <a:r>
              <a:rPr lang="en-IN" b="1" dirty="0">
                <a:hlinkClick r:id="rId4"/>
              </a:rPr>
              <a:t>linkedin.com/in/dumpali-kaveri-6915b72b9</a:t>
            </a:r>
            <a:endParaRPr lang="en-US" sz="1600" u="sng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endParaRPr sz="2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737811" y="249407"/>
            <a:ext cx="8765505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0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                                        </a:t>
            </a: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                                     </a:t>
            </a: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                                         </a:t>
            </a:r>
            <a:r>
              <a:rPr lang="en-IN" sz="3600" b="1" i="0" u="none" strike="noStrike" cap="none" dirty="0">
                <a:solidFill>
                  <a:srgbClr val="FF0000"/>
                </a:solidFill>
                <a:latin typeface="Times New Roman" panose="02020603050405020304" pitchFamily="18" charset="0"/>
                <a:ea typeface="Lato Black"/>
                <a:cs typeface="Times New Roman" panose="02020603050405020304" pitchFamily="18" charset="0"/>
                <a:sym typeface="Lato Black"/>
              </a:rPr>
              <a:t>About me </a:t>
            </a:r>
            <a:endParaRPr sz="3600" b="1" i="0" u="none" strike="noStrike" cap="none" dirty="0">
              <a:solidFill>
                <a:srgbClr val="FF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307570" y="174567"/>
            <a:ext cx="10416501" cy="1169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dirty="0">
                <a:solidFill>
                  <a:srgbClr val="FF0000"/>
                </a:solidFill>
              </a:rPr>
              <a:t>                                </a:t>
            </a:r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Agenda  </a:t>
            </a:r>
            <a:endParaRPr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684880" y="1493134"/>
            <a:ext cx="10515600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fontAlgn="base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of the Exception handling</a:t>
            </a:r>
          </a:p>
          <a:p>
            <a:pPr fontAlgn="base"/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Exception Handling</a:t>
            </a:r>
          </a:p>
          <a:p>
            <a:pPr fontAlgn="base"/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Difference Between error and Exception</a:t>
            </a:r>
          </a:p>
          <a:p>
            <a:pPr fontAlgn="base"/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Common bult-in Exception</a:t>
            </a:r>
          </a:p>
          <a:p>
            <a:pPr fontAlgn="base"/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Ways of Handling Exception</a:t>
            </a:r>
          </a:p>
          <a:p>
            <a:pPr fontAlgn="base"/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Real-world Application</a:t>
            </a:r>
          </a:p>
          <a:p>
            <a:pPr fontAlgn="base"/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fontAlgn="base"/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fontAlgn="base"/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4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Wingdings" panose="05000000000000000000" pitchFamily="2" charset="2"/>
              <a:buChar char="§"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6C1ED2B-98A9-0DBF-0E17-7C07812DC4FF}"/>
              </a:ext>
            </a:extLst>
          </p:cNvPr>
          <p:cNvSpPr txBox="1"/>
          <p:nvPr/>
        </p:nvSpPr>
        <p:spPr>
          <a:xfrm>
            <a:off x="1730477" y="1877961"/>
            <a:ext cx="750201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the concept of exception handling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different types of errors and exceptions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Learn how to handle runtime error using exception handling techniques.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Manage exception using try, except, else and finally.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Learn when and why exception occur.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3B835B-C357-5A55-09E0-23CAC4782FB1}"/>
              </a:ext>
            </a:extLst>
          </p:cNvPr>
          <p:cNvSpPr txBox="1"/>
          <p:nvPr/>
        </p:nvSpPr>
        <p:spPr>
          <a:xfrm>
            <a:off x="261449" y="536481"/>
            <a:ext cx="8135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Exception Handling</a:t>
            </a:r>
          </a:p>
        </p:txBody>
      </p:sp>
    </p:spTree>
    <p:extLst>
      <p:ext uri="{BB962C8B-B14F-4D97-AF65-F5344CB8AC3E}">
        <p14:creationId xmlns:p14="http://schemas.microsoft.com/office/powerpoint/2010/main" val="141711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38E4EA-5A71-35A1-C6B6-C08A22B9A7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19453"/>
            <a:ext cx="10515600" cy="3741333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What is Exception Handling?</a:t>
            </a:r>
          </a:p>
          <a:p>
            <a:pPr marL="11430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Exception handling is a mechanism in Python used to handle runtime errors so that the program can continue executing without crashing.</a:t>
            </a:r>
          </a:p>
        </p:txBody>
      </p:sp>
    </p:spTree>
    <p:extLst>
      <p:ext uri="{BB962C8B-B14F-4D97-AF65-F5344CB8AC3E}">
        <p14:creationId xmlns:p14="http://schemas.microsoft.com/office/powerpoint/2010/main" val="27644801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ED1D1-C8CD-5D3C-4651-5F86FB70F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Difference between Error and Exception</a:t>
            </a:r>
            <a:endParaRPr lang="en-IN" sz="36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398D555-EAB5-6037-6090-9E2B751DDF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4475892"/>
              </p:ext>
            </p:extLst>
          </p:nvPr>
        </p:nvGraphicFramePr>
        <p:xfrm>
          <a:off x="1769806" y="1563330"/>
          <a:ext cx="8524568" cy="41295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01729">
                  <a:extLst>
                    <a:ext uri="{9D8B030D-6E8A-4147-A177-3AD203B41FA5}">
                      <a16:colId xmlns:a16="http://schemas.microsoft.com/office/drawing/2014/main" val="3409913351"/>
                    </a:ext>
                  </a:extLst>
                </a:gridCol>
                <a:gridCol w="4522839">
                  <a:extLst>
                    <a:ext uri="{9D8B030D-6E8A-4147-A177-3AD203B41FA5}">
                      <a16:colId xmlns:a16="http://schemas.microsoft.com/office/drawing/2014/main" val="2698313009"/>
                    </a:ext>
                  </a:extLst>
                </a:gridCol>
              </a:tblGrid>
              <a:tr h="783710">
                <a:tc>
                  <a:txBody>
                    <a:bodyPr/>
                    <a:lstStyle/>
                    <a:p>
                      <a:r>
                        <a:rPr lang="en-IN" dirty="0"/>
                        <a:t>                      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                    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Exception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2322393"/>
                  </a:ext>
                </a:extLst>
              </a:tr>
              <a:tr h="1145422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 error is a problem that prevents the program from running correctly.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 exception is a runtime error that occurs during program execution.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7348011"/>
                  </a:ext>
                </a:extLst>
              </a:tr>
              <a:tr h="733473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Caused by coding mistakes.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caused by user input or runtime conditions.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6697088"/>
                  </a:ext>
                </a:extLst>
              </a:tr>
              <a:tr h="733473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Stops the program.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 be handled using </a:t>
                      </a:r>
                      <a:r>
                        <a:rPr lang="en-IN" sz="1600" b="0" i="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try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</a:t>
                      </a:r>
                      <a:r>
                        <a:rPr lang="en-IN" sz="1600" b="0" i="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except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blocks.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2001281"/>
                  </a:ext>
                </a:extLst>
              </a:tr>
              <a:tr h="733473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Example: </a:t>
                      </a:r>
                      <a:r>
                        <a:rPr lang="en-IN" sz="1600" b="0" i="0" u="none" strike="noStrike" cap="none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SyntaxError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IN" sz="1600" b="0" i="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IndentationError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Example: </a:t>
                      </a:r>
                      <a:r>
                        <a:rPr lang="en-IN" sz="1600" b="0" i="0" u="none" strike="noStrike" cap="none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ValueError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IN" sz="1600" b="0" i="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ZeroDivisionError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11595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1118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88351-0C5B-9AF5-0B12-8B68B0391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Common built-in Exceptions in Python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E7E4DD-D4A5-92E9-6643-227FF7294C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ZeroDivisionError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ZeroDivisionError occurs when a program tries to divide a number by zero. Since division by zero is mathematically undefined, Python raises this error.</a:t>
            </a:r>
          </a:p>
          <a:p>
            <a:pPr marL="11430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marL="11430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330951-8471-21ED-2E06-43D5152328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5807" y="2918549"/>
            <a:ext cx="5515548" cy="13255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18C6D0B-B6FD-3E1C-4621-F37BD0943E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400" y="4499750"/>
            <a:ext cx="8138865" cy="2187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4045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95C3A-0804-F98B-4305-47DCD9E8A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           </a:t>
            </a:r>
            <a:endParaRPr lang="en-US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8FCBCC-8C29-06E9-621F-CE3CCF3198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4771" y="1092820"/>
            <a:ext cx="10589029" cy="4672359"/>
          </a:xfrm>
        </p:spPr>
        <p:txBody>
          <a:bodyPr/>
          <a:lstStyle/>
          <a:p>
            <a:pPr marL="114300" indent="0">
              <a:buNone/>
            </a:pP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ValueError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ValueError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occurs when the correct data type is used, but the value is invalid.</a:t>
            </a:r>
          </a:p>
          <a:p>
            <a:pPr marL="114300" indent="0">
              <a:lnSpc>
                <a:spcPct val="10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marL="114300" indent="0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44B7BB-E814-1EE7-EC0F-B05E2F8F05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1689" y="2418382"/>
            <a:ext cx="6488621" cy="101061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B0FDC22-B8C0-2FA7-63E4-63366D80A4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4782" y="3692359"/>
            <a:ext cx="7110076" cy="2072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4945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F8978-D14D-2B1B-BD2C-28288E039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1891"/>
            <a:ext cx="10515600" cy="1108797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              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4DE6FA-17C7-DC91-EBC5-DB336D97AF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0884" y="842399"/>
            <a:ext cx="10515600" cy="4351338"/>
          </a:xfrm>
        </p:spPr>
        <p:txBody>
          <a:bodyPr>
            <a:normAutofit/>
          </a:bodyPr>
          <a:lstStyle/>
          <a:p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TypeError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TypeError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occurs when an operation or function is performed on a value of the wrong data type.</a:t>
            </a:r>
          </a:p>
          <a:p>
            <a:pPr marL="11430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:</a:t>
            </a:r>
          </a:p>
          <a:p>
            <a:pPr marL="11430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E22400-C0E7-A7FE-F4AE-5389845DBF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6480" y="2263232"/>
            <a:ext cx="4657286" cy="15096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6EC24F8-22CB-AF76-DD90-135BF44FD9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793" y="3955379"/>
            <a:ext cx="6782388" cy="2476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5450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3D1089-560F-3456-0125-5BA4D01728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9374" y="1113093"/>
            <a:ext cx="10515600" cy="4351338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IndentationError 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Indentation is used to define code blocks in Python. If indentation is missing or incorrect, Python raises an IndentationError and stops execution.</a:t>
            </a:r>
          </a:p>
          <a:p>
            <a:pPr marL="11430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marL="114300" indent="0"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7BE918-1978-F389-3E63-EBA191A1E5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6288" y="2750763"/>
            <a:ext cx="7741815" cy="8267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9A19EC6-2282-C0CB-81FC-60B743F826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7967" y="4039368"/>
            <a:ext cx="6988146" cy="1425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4185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3E930-4A06-25B8-B535-BCAB985E3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742" y="361156"/>
            <a:ext cx="10515600" cy="1325563"/>
          </a:xfrm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Ways of Handling Exception</a:t>
            </a:r>
            <a:endParaRPr 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1C25E0-97BC-1756-8C63-6813F148F3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: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55035E-4CC6-5D1A-56BB-0ECBE799C5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061" y="3847674"/>
            <a:ext cx="5348488" cy="2119421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2C52074F-91B4-0C02-9AE2-3B7E5491B7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4277" y="1348334"/>
            <a:ext cx="4323194" cy="16619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lang="en-US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Try-Except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Handles runtime errors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Prevents program crash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Executes except block if error occur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8A6E47-91D2-917A-469F-45523F4E97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7033" y="4001294"/>
            <a:ext cx="4054974" cy="87550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6CD70FF-70D6-F442-FFD0-90F6E3898EE6}"/>
              </a:ext>
            </a:extLst>
          </p:cNvPr>
          <p:cNvSpPr txBox="1"/>
          <p:nvPr/>
        </p:nvSpPr>
        <p:spPr>
          <a:xfrm>
            <a:off x="7457033" y="3429000"/>
            <a:ext cx="10702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</a:t>
            </a:r>
            <a:r>
              <a:rPr lang="en-US" sz="1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272076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BB386-B049-D448-7153-CD596EA23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Try-Except-Else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9602A1B-7527-67FA-06CB-D0ABD6BDC0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45771" y="1735424"/>
            <a:ext cx="3873176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Executes only if no error occurs </a:t>
            </a:r>
          </a:p>
          <a:p>
            <a:pPr marL="342900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 for success logic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051F376-DB1F-83F3-541D-ED5806A218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6740" y="3165384"/>
            <a:ext cx="4248743" cy="172426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E253AB4-A735-09F9-C1EC-8352E40349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9748" y="3908830"/>
            <a:ext cx="2848373" cy="8192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5B5A3E7-1003-CD72-EDE7-ED1F372B7146}"/>
              </a:ext>
            </a:extLst>
          </p:cNvPr>
          <p:cNvSpPr txBox="1"/>
          <p:nvPr/>
        </p:nvSpPr>
        <p:spPr>
          <a:xfrm>
            <a:off x="1236740" y="2545964"/>
            <a:ext cx="16560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2851C0-8172-FE3C-6D50-0831233F1D08}"/>
              </a:ext>
            </a:extLst>
          </p:cNvPr>
          <p:cNvSpPr txBox="1"/>
          <p:nvPr/>
        </p:nvSpPr>
        <p:spPr>
          <a:xfrm>
            <a:off x="6706519" y="3300153"/>
            <a:ext cx="11471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</a:t>
            </a:r>
          </a:p>
        </p:txBody>
      </p:sp>
    </p:spTree>
    <p:extLst>
      <p:ext uri="{BB962C8B-B14F-4D97-AF65-F5344CB8AC3E}">
        <p14:creationId xmlns:p14="http://schemas.microsoft.com/office/powerpoint/2010/main" val="7015914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1B1D5-FB1B-6952-807C-ADE1F4D35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Try-Except-Finally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83C98D3-C8B9-12BA-938F-47BE2162F3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79516" y="1598161"/>
            <a:ext cx="3974165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Always executes </a:t>
            </a:r>
          </a:p>
          <a:p>
            <a:pPr marL="342900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 for cleanup tasks </a:t>
            </a:r>
          </a:p>
          <a:p>
            <a:pPr marL="342900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Runs whether error occurs or not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0686A9-CA46-043D-8DCD-C9F1FEE0A2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8927" y="3315900"/>
            <a:ext cx="3261137" cy="19488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55BC28F-F1CB-E659-803C-5F7AA4C2AC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938" y="4014080"/>
            <a:ext cx="3082859" cy="77405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A35E98C-6B82-FCA0-110D-45A870B50237}"/>
              </a:ext>
            </a:extLst>
          </p:cNvPr>
          <p:cNvSpPr txBox="1"/>
          <p:nvPr/>
        </p:nvSpPr>
        <p:spPr>
          <a:xfrm>
            <a:off x="6516938" y="3429000"/>
            <a:ext cx="10310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8C1437-DA64-9673-FCE3-0A50E945CBF1}"/>
              </a:ext>
            </a:extLst>
          </p:cNvPr>
          <p:cNvSpPr txBox="1"/>
          <p:nvPr/>
        </p:nvSpPr>
        <p:spPr>
          <a:xfrm>
            <a:off x="1352425" y="2816001"/>
            <a:ext cx="1299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:</a:t>
            </a:r>
          </a:p>
        </p:txBody>
      </p:sp>
    </p:spTree>
    <p:extLst>
      <p:ext uri="{BB962C8B-B14F-4D97-AF65-F5344CB8AC3E}">
        <p14:creationId xmlns:p14="http://schemas.microsoft.com/office/powerpoint/2010/main" val="4807259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7C247-46E3-05B6-282E-1F12177A0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Try-Except-Else-Finally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37862F-AE96-0F46-020A-B1F32697A6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0123" y="1887333"/>
            <a:ext cx="5258256" cy="23319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90AF8E4-AA54-E32F-4D2A-989D56A88F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0036" y="4570368"/>
            <a:ext cx="4275964" cy="8988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CCA4DE7-692E-52CD-27AC-5391E08C11E0}"/>
              </a:ext>
            </a:extLst>
          </p:cNvPr>
          <p:cNvSpPr txBox="1"/>
          <p:nvPr/>
        </p:nvSpPr>
        <p:spPr>
          <a:xfrm>
            <a:off x="995516" y="1545756"/>
            <a:ext cx="18779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</a:t>
            </a:r>
          </a:p>
        </p:txBody>
      </p:sp>
    </p:spTree>
    <p:extLst>
      <p:ext uri="{BB962C8B-B14F-4D97-AF65-F5344CB8AC3E}">
        <p14:creationId xmlns:p14="http://schemas.microsoft.com/office/powerpoint/2010/main" val="41826146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015C8-D49C-F25E-305F-DAAE1DA8A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026" y="681037"/>
            <a:ext cx="10515600" cy="1325563"/>
          </a:xfrm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Real-world applications</a:t>
            </a:r>
            <a:endParaRPr lang="en-IN" sz="29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D9F09D-3A79-3273-1302-DC0D43B364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36955"/>
            <a:ext cx="10515600" cy="4603802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ATM systems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apps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systems</a:t>
            </a:r>
          </a:p>
        </p:txBody>
      </p:sp>
    </p:spTree>
    <p:extLst>
      <p:ext uri="{BB962C8B-B14F-4D97-AF65-F5344CB8AC3E}">
        <p14:creationId xmlns:p14="http://schemas.microsoft.com/office/powerpoint/2010/main" val="32223557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BF90C-F2EA-B29B-231B-AE994B91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/>
              <a:t>                             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015194-9E8D-D453-C6DE-10914DFE17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crashes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user experience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code reliable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Easier debugging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38821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80DE7-C9CB-A593-368C-FB803364D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9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 Outcomes and Challenges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0FFA16-6D7B-D31C-E93D-674C8B9809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 concept of exceptions and errors in Python.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Identify common exceptions such as ZeroDivisionError,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ValueError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TypeError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IndentationError.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 try, except, else, and finally blocks effectively.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the difference between  errors and exceptions.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Choosing the correct exception type to handle.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54710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648F8-B9EF-3656-EB25-B2CF31C4A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 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55C6FFC-54B5-EC90-C985-900835660A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199" y="1865148"/>
            <a:ext cx="7748847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Errors are unavoidable </a:t>
            </a:r>
          </a:p>
          <a:p>
            <a:pPr marL="342900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Handling them is essential </a:t>
            </a:r>
          </a:p>
          <a:p>
            <a:pPr marL="342900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Makes programs professional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conclude, errors are unavoidable in programming, but handling them properly makes our programs strong and efficient.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95564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87A528-A030-5761-9BB4-2A21A8E6C0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Any Queries???</a:t>
            </a:r>
          </a:p>
        </p:txBody>
      </p:sp>
    </p:spTree>
    <p:extLst>
      <p:ext uri="{BB962C8B-B14F-4D97-AF65-F5344CB8AC3E}">
        <p14:creationId xmlns:p14="http://schemas.microsoft.com/office/powerpoint/2010/main" val="36581474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581891" y="2701635"/>
            <a:ext cx="4530436" cy="1612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 dirty="0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    </a:t>
            </a:r>
            <a:r>
              <a:rPr lang="en-IN" sz="4000" b="0" i="0" u="none" strike="noStrike" cap="none" dirty="0">
                <a:solidFill>
                  <a:srgbClr val="FF0000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THANK YOU</a:t>
            </a:r>
            <a:endParaRPr sz="4000" b="0" i="0" u="none" strike="noStrike" cap="none" dirty="0">
              <a:solidFill>
                <a:srgbClr val="FF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1064</TotalTime>
  <Words>554</Words>
  <Application>Microsoft Office PowerPoint</Application>
  <PresentationFormat>Widescreen</PresentationFormat>
  <Paragraphs>114</Paragraphs>
  <Slides>20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Lato Black</vt:lpstr>
      <vt:lpstr>Libre Baskerville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                                Agenda  </vt:lpstr>
      <vt:lpstr>PowerPoint Presentation</vt:lpstr>
      <vt:lpstr>PowerPoint Presentation</vt:lpstr>
      <vt:lpstr>Difference between Error and Exception</vt:lpstr>
      <vt:lpstr>Common built-in Exceptions in Python </vt:lpstr>
      <vt:lpstr>           </vt:lpstr>
      <vt:lpstr>               </vt:lpstr>
      <vt:lpstr>PowerPoint Presentation</vt:lpstr>
      <vt:lpstr>                            Ways of Handling Exception</vt:lpstr>
      <vt:lpstr>Try-Except-Else</vt:lpstr>
      <vt:lpstr>Try-Except-Finally</vt:lpstr>
      <vt:lpstr>Try-Except-Else-Finally</vt:lpstr>
      <vt:lpstr> Real-world applications</vt:lpstr>
      <vt:lpstr>                               Advantages </vt:lpstr>
      <vt:lpstr> Learning Outcomes and Challenges </vt:lpstr>
      <vt:lpstr>                         Conclusion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kaverid844@gmail.com</cp:lastModifiedBy>
  <cp:revision>22</cp:revision>
  <dcterms:created xsi:type="dcterms:W3CDTF">2021-02-16T05:19:01Z</dcterms:created>
  <dcterms:modified xsi:type="dcterms:W3CDTF">2026-06-20T06:41:28Z</dcterms:modified>
</cp:coreProperties>
</file>